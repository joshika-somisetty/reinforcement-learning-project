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8" r:id="rId15"/>
    <p:sldId id="277" r:id="rId16"/>
    <p:sldId id="269" r:id="rId17"/>
    <p:sldId id="276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000000"/>
                </a:solidFill>
                <a:latin typeface="Arial"/>
              </a:rPr>
              <a:t>Chart Title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TSA-SAC (Ours)</c:v>
                </c:pt>
              </c:strCache>
            </c:strRef>
          </c:tx>
          <c:spPr>
            <a:ln w="31750" cap="flat">
              <a:solidFill>
                <a:srgbClr val="1A6B3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6B3A"/>
              </a:solidFill>
              <a:ln w="9525" cap="flat">
                <a:solidFill>
                  <a:srgbClr val="1A6B3A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200</c:v>
                </c:pt>
                <c:pt idx="1">
                  <c:v>450</c:v>
                </c:pt>
                <c:pt idx="2">
                  <c:v>620</c:v>
                </c:pt>
                <c:pt idx="3">
                  <c:v>750</c:v>
                </c:pt>
                <c:pt idx="4">
                  <c:v>820</c:v>
                </c:pt>
                <c:pt idx="5">
                  <c:v>870</c:v>
                </c:pt>
                <c:pt idx="6">
                  <c:v>900</c:v>
                </c:pt>
                <c:pt idx="7">
                  <c:v>930</c:v>
                </c:pt>
                <c:pt idx="8">
                  <c:v>960</c:v>
                </c:pt>
                <c:pt idx="9">
                  <c:v>980</c:v>
                </c:pt>
                <c:pt idx="10">
                  <c:v>1000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201-4796-9E5D-48DD7CA124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SAC-MLP</c:v>
                </c:pt>
              </c:strCache>
            </c:strRef>
          </c:tx>
          <c:spPr>
            <a:ln w="31750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180</c:v>
                </c:pt>
                <c:pt idx="1">
                  <c:v>400</c:v>
                </c:pt>
                <c:pt idx="2">
                  <c:v>570</c:v>
                </c:pt>
                <c:pt idx="3">
                  <c:v>690</c:v>
                </c:pt>
                <c:pt idx="4">
                  <c:v>760</c:v>
                </c:pt>
                <c:pt idx="5">
                  <c:v>810</c:v>
                </c:pt>
                <c:pt idx="6">
                  <c:v>840</c:v>
                </c:pt>
                <c:pt idx="7">
                  <c:v>870</c:v>
                </c:pt>
                <c:pt idx="8">
                  <c:v>890</c:v>
                </c:pt>
                <c:pt idx="9">
                  <c:v>900</c:v>
                </c:pt>
                <c:pt idx="10">
                  <c:v>910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8201-4796-9E5D-48DD7CA124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DDPG-MLP</c:v>
                </c:pt>
              </c:strCache>
            </c:strRef>
          </c:tx>
          <c:spPr>
            <a:ln w="31750" cap="flat">
              <a:solidFill>
                <a:srgbClr val="E651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5100"/>
              </a:solidFill>
              <a:ln w="9525" cap="flat">
                <a:solidFill>
                  <a:srgbClr val="E65100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170</c:v>
                </c:pt>
                <c:pt idx="1">
                  <c:v>360</c:v>
                </c:pt>
                <c:pt idx="2">
                  <c:v>510</c:v>
                </c:pt>
                <c:pt idx="3">
                  <c:v>640</c:v>
                </c:pt>
                <c:pt idx="4">
                  <c:v>700</c:v>
                </c:pt>
                <c:pt idx="5">
                  <c:v>740</c:v>
                </c:pt>
                <c:pt idx="6">
                  <c:v>760</c:v>
                </c:pt>
                <c:pt idx="7">
                  <c:v>790</c:v>
                </c:pt>
                <c:pt idx="8">
                  <c:v>800</c:v>
                </c:pt>
                <c:pt idx="9">
                  <c:v>810</c:v>
                </c:pt>
                <c:pt idx="10">
                  <c:v>815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8201-4796-9E5D-48DD7CA124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PPO-MLP</c:v>
                </c:pt>
              </c:strCache>
            </c:strRef>
          </c:tx>
          <c:spPr>
            <a:ln w="31750" cap="flat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150</c:v>
                </c:pt>
                <c:pt idx="1">
                  <c:v>250</c:v>
                </c:pt>
                <c:pt idx="2">
                  <c:v>310</c:v>
                </c:pt>
                <c:pt idx="3">
                  <c:v>340</c:v>
                </c:pt>
                <c:pt idx="4">
                  <c:v>360</c:v>
                </c:pt>
                <c:pt idx="5">
                  <c:v>370</c:v>
                </c:pt>
                <c:pt idx="6">
                  <c:v>375</c:v>
                </c:pt>
                <c:pt idx="7">
                  <c:v>380</c:v>
                </c:pt>
                <c:pt idx="8">
                  <c:v>382</c:v>
                </c:pt>
                <c:pt idx="9">
                  <c:v>384</c:v>
                </c:pt>
                <c:pt idx="10">
                  <c:v>385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8201-4796-9E5D-48DD7CA12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000" b="0" i="0" u="none" strike="noStrike">
                <a:solidFill>
                  <a:srgbClr val="000000"/>
                </a:solidFill>
                <a:latin typeface="Arial"/>
              </a:rPr>
              <a:t>Chart Title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Entropy Temperature α</c:v>
                </c:pt>
              </c:strCache>
            </c:strRef>
          </c:tx>
          <c:spPr>
            <a:ln w="25400" cap="flat">
              <a:solidFill>
                <a:srgbClr val="5B2C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B2C8A"/>
              </a:solidFill>
              <a:ln w="9525" cap="flat">
                <a:solidFill>
                  <a:srgbClr val="5B2C8A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</c:v>
                </c:pt>
                <c:pt idx="1">
                  <c:v>0.18</c:v>
                </c:pt>
                <c:pt idx="2">
                  <c:v>0.15</c:v>
                </c:pt>
                <c:pt idx="3">
                  <c:v>0.13</c:v>
                </c:pt>
                <c:pt idx="4">
                  <c:v>0.11</c:v>
                </c:pt>
                <c:pt idx="5">
                  <c:v>9.8000000000000004E-2</c:v>
                </c:pt>
                <c:pt idx="6">
                  <c:v>8.7999999999999995E-2</c:v>
                </c:pt>
                <c:pt idx="7">
                  <c:v>8.2000000000000003E-2</c:v>
                </c:pt>
                <c:pt idx="8">
                  <c:v>7.8E-2</c:v>
                </c:pt>
                <c:pt idx="9">
                  <c:v>7.4999999999999997E-2</c:v>
                </c:pt>
                <c:pt idx="10">
                  <c:v>7.2999999999999995E-2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201-4E63-B4B9-9E3BF638B1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000" b="0" i="0" u="none" strike="noStrike">
                <a:solidFill>
                  <a:srgbClr val="000000"/>
                </a:solidFill>
                <a:latin typeface="Arial"/>
              </a:rPr>
              <a:t>Chart Title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 Loss</c:v>
                </c:pt>
              </c:strCache>
            </c:strRef>
          </c:tx>
          <c:spPr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0.85</c:v>
                </c:pt>
                <c:pt idx="1">
                  <c:v>0.62</c:v>
                </c:pt>
                <c:pt idx="2">
                  <c:v>0.48</c:v>
                </c:pt>
                <c:pt idx="3">
                  <c:v>0.38</c:v>
                </c:pt>
                <c:pt idx="4">
                  <c:v>0.3</c:v>
                </c:pt>
                <c:pt idx="5">
                  <c:v>0.24</c:v>
                </c:pt>
                <c:pt idx="6">
                  <c:v>0.19</c:v>
                </c:pt>
                <c:pt idx="7">
                  <c:v>0.16</c:v>
                </c:pt>
                <c:pt idx="8">
                  <c:v>0.13</c:v>
                </c:pt>
                <c:pt idx="9">
                  <c:v>0.12</c:v>
                </c:pt>
                <c:pt idx="10">
                  <c:v>0.11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ECC-459B-BDE3-497A8DD7F9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16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7093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AMRITA SCHOOL OF ARTIFICIAL INTELLIGENCE, BENGALURU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in Artificial Intelligence and Data Science (AID)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59436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Sixth Semester, Section F, Academic Year: 2025-26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1005840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089052" y="1405890"/>
            <a:ext cx="4965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(22AIE412) — END-TERM PROJECT PRESENTATION</a:t>
            </a:r>
            <a:endParaRPr lang="en-US" sz="1200" b="1" dirty="0"/>
          </a:p>
        </p:txBody>
      </p:sp>
      <p:sp>
        <p:nvSpPr>
          <p:cNvPr id="8" name="Text 6"/>
          <p:cNvSpPr/>
          <p:nvPr/>
        </p:nvSpPr>
        <p:spPr>
          <a:xfrm>
            <a:off x="548640" y="174879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Smart Irrigation Scheduling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Using Deep Reinforcement Learning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(TSA-SAC with BiLSTM + Temporal Attention)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6576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Dr. Amudha J.</a:t>
            </a:r>
            <a:endParaRPr lang="en-US" sz="1100" b="1" dirty="0"/>
          </a:p>
        </p:txBody>
      </p:sp>
      <p:sp>
        <p:nvSpPr>
          <p:cNvPr id="11" name="Text 9"/>
          <p:cNvSpPr/>
          <p:nvPr/>
        </p:nvSpPr>
        <p:spPr>
          <a:xfrm>
            <a:off x="6210886" y="4206240"/>
            <a:ext cx="25673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Group No. 11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Joshika Somisetty (AID23019)    |    Leela Sabareesh (AID23037)    |    Vobilisetti Vyvanth (AID23056)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32004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consumes ~70% of global freshwater. Inefficient irrigation leads to water waste, reduced crop yield, and economic losses. Traditional scheduling relies on fixed rules ignoring real-time crop stress and weather dynamics.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32004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60604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rule-based irrigation is static and sub-optimal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DSSAT-based simulators are expensive and not portable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agents using MLP ignore temporal crop growth dynamics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trade-off: maximize yield while minimizing water use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822960"/>
            <a:ext cx="402336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754880" y="8229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solidFill>
            <a:srgbClr val="F7F9F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937760" y="1234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TSA-SAC: Temporal-Spatial Attention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Soft Actor-Critic Agent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92040" y="1828800"/>
            <a:ext cx="36576" cy="3840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0" y="18288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Encoder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rolling history window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92040" y="2359152"/>
            <a:ext cx="36576" cy="3840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029200" y="235915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Attention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54203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critical growth stages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92040" y="2889504"/>
            <a:ext cx="36576" cy="3840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29200" y="288950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Attention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07238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relevant state variables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419856"/>
            <a:ext cx="36576" cy="3840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029200" y="34198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Stage-Aware Reward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60273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Multi-objective: profit − water cost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92040" y="3950208"/>
            <a:ext cx="36576" cy="3840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029200" y="39502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Budget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41330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scarcity constraints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Paper: MDPI Agriculture, December 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Outcome of the Current Project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7432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868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Agent Trained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21615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surrogate crop env (Cotton/Wheat/Maize), 1000 episodes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0" y="868680"/>
            <a:ext cx="2743200" cy="31089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91840" y="868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Profit: $1,039/ha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10128" y="121615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Outperforms Farmer Expert ($990) and all baselines with less water (1,152 mm)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86868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080760" y="868680"/>
            <a:ext cx="2743200" cy="310896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172200" y="868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IWUE = 6.60 kg/mm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90488" y="121615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irrigation water-use efficiency among all policies evaluated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514600"/>
            <a:ext cx="2743200" cy="310896"/>
          </a:xfrm>
          <a:prstGeom prst="rect">
            <a:avLst/>
          </a:prstGeom>
          <a:solidFill>
            <a:srgbClr val="5B2C8A"/>
          </a:solidFill>
          <a:ln w="12700">
            <a:solidFill>
              <a:srgbClr val="5B2C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11480" y="25146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" y="286207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variants × 3 seeds: confirms temporal attention adds +1.7% profit over MLP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0" y="25146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00400" y="2514600"/>
            <a:ext cx="2743200" cy="310896"/>
          </a:xfrm>
          <a:prstGeom prst="rect">
            <a:avLst/>
          </a:prstGeom>
          <a:solidFill>
            <a:srgbClr val="9A4200"/>
          </a:solidFill>
          <a:ln w="12700">
            <a:solidFill>
              <a:srgbClr val="9A42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91840" y="25146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Sensitivity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0128" y="286207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history boosts profit by +15% over memoryless agent (seq_len sensitivity)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80760" y="251460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AAAAAA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080760" y="2514600"/>
            <a:ext cx="2743200" cy="310896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172200" y="251460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Testing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90488" y="2862072"/>
            <a:ext cx="2523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4 unseen climates/budgets; profit degrades gracefully ($588–$1,201)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Previous Outcome of the RL Project (Prior Work)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Foundation: Policy Iteration &amp; Value Iteration on Grid Worlds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274320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00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Iteration (5×5 Grid)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554480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Bellman optimality equations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19933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within ~50 iterations (γ=0.9)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32304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optimal V* and deterministic policy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287121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 standard gridworld with terminal states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123444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200400" y="1234440"/>
            <a:ext cx="2743200" cy="27432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0040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Iteration (5×5 Grid)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0128" y="1554480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 + policy improvement loop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933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convergence than value iteration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432304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policy equivalence with value iteration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87121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implementation with numerical output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23444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80760" y="1234440"/>
            <a:ext cx="2743200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0807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Progression Markov Chain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90488" y="1554480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Enrolled → Passing → Failing → Graduated → Dropped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90488" y="1993392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matrix with absorbing states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2432304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stationary distribution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871216"/>
            <a:ext cx="25237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long-run probabilities analytically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566160"/>
            <a:ext cx="841248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65760" y="35661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TRANSITION TO CURRENT PROJECT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8862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tabular RL (discrete states) → Deep RL with continuous state/action spaces. TSA-SAC addresses high-dimensional agricultural observations that tabular methods cannot handle. Prior work established Bellman equation fluency; current work extends to function approximation and temporal sequence modeling.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Literature Survey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95951" y="1138428"/>
            <a:ext cx="704382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95951" y="1138428"/>
            <a:ext cx="7043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28173" y="1138428"/>
            <a:ext cx="2320318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28173" y="1138428"/>
            <a:ext cx="23203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Title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74659" y="1138428"/>
            <a:ext cx="1823107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374659" y="1138428"/>
            <a:ext cx="18231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21755" y="1138428"/>
            <a:ext cx="1781673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221755" y="1138428"/>
            <a:ext cx="178167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030153" y="1138428"/>
            <a:ext cx="1781673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030153" y="1138428"/>
            <a:ext cx="178167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5951" y="1476756"/>
            <a:ext cx="70438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32527" y="1476756"/>
            <a:ext cx="6380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 et al.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028173" y="1476756"/>
            <a:ext cx="2320318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064749" y="1476756"/>
            <a:ext cx="22540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Irrigation Scheduling using DRL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(MDPI Agriculture)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74659" y="1476756"/>
            <a:ext cx="1823107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11235" y="1476756"/>
            <a:ext cx="17568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TSA-SAC: BiLSTM + Temporal Attention on DSSAT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21755" y="1476756"/>
            <a:ext cx="1781673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258331" y="1476756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outperforms SAC/PPO on yield &amp; profit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030153" y="1476756"/>
            <a:ext cx="1781673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066729" y="1476756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paper — architecture and reward design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5951" y="2098548"/>
            <a:ext cx="704382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32527" y="2098548"/>
            <a:ext cx="6380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Lillicrap et al.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(2016)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28173" y="2098548"/>
            <a:ext cx="2320318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064749" y="2098548"/>
            <a:ext cx="22540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Control with Deep RL (DDPG)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74659" y="2098548"/>
            <a:ext cx="1823107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411235" y="2098548"/>
            <a:ext cx="17568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actor-critic, replay buffer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21755" y="2098548"/>
            <a:ext cx="1781673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258331" y="2098548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DDPG works for continuous action spaces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30153" y="2098548"/>
            <a:ext cx="1781673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7066729" y="2098548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in ablation study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5951" y="2720340"/>
            <a:ext cx="704382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32527" y="2720340"/>
            <a:ext cx="6380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Haarnoja et al.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(2018)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028173" y="2720340"/>
            <a:ext cx="2320318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1064749" y="2720340"/>
            <a:ext cx="22540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Actor-Critic: Off-Policy Max Entropy DRL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374659" y="2720340"/>
            <a:ext cx="1823107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411235" y="2720340"/>
            <a:ext cx="17568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with auto-tuned entropy, twin critics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221755" y="2720340"/>
            <a:ext cx="1781673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5258331" y="2720340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is sample-efficient and stable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030153" y="2720340"/>
            <a:ext cx="1781673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7066729" y="2720340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algorithm (SAC) used in TSA-SAC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95951" y="3342132"/>
            <a:ext cx="704382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32527" y="3342132"/>
            <a:ext cx="63808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Schulman et al.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(2017)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028173" y="3342132"/>
            <a:ext cx="2320318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1064749" y="3342132"/>
            <a:ext cx="225402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Policy Optimization (PPO)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374659" y="3342132"/>
            <a:ext cx="1823107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411235" y="3342132"/>
            <a:ext cx="17568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On-policy clipped objective, GAE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221755" y="3342132"/>
            <a:ext cx="1781673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5258331" y="3342132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is robust but less sample-efficient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7030153" y="3342132"/>
            <a:ext cx="1781673" cy="603504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7066729" y="3342132"/>
            <a:ext cx="171537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PPO comparison in our study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Gaps and Challenges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148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2004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4114800" cy="1051560"/>
          </a:xfrm>
          <a:prstGeom prst="rect">
            <a:avLst/>
          </a:prstGeom>
          <a:solidFill>
            <a:srgbClr val="FFF5F5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11480" y="118872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118872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05840" y="1197864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DSSAT Dependency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" y="1472184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paper uses DSSAT (costly external simulator). Our surrogate environment approximates crop physics but lacks real soil calibration.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331720"/>
            <a:ext cx="4114800" cy="1051560"/>
          </a:xfrm>
          <a:prstGeom prst="rect">
            <a:avLst/>
          </a:prstGeom>
          <a:solidFill>
            <a:srgbClr val="FFF5F5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237744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37744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05840" y="2386584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Sparsity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2660904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yield reward is sparse. Stage-aware daily rewards partially address this, but credit assignment across 170 days remains difficult.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520440"/>
            <a:ext cx="4114800" cy="1051560"/>
          </a:xfrm>
          <a:prstGeom prst="rect">
            <a:avLst/>
          </a:prstGeom>
          <a:solidFill>
            <a:srgbClr val="FFF5F5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11480" y="35661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3566160"/>
            <a:ext cx="502920" cy="237744"/>
          </a:xfrm>
          <a:prstGeom prst="roundRect">
            <a:avLst>
              <a:gd name="adj" fmla="val 19231"/>
            </a:avLst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11480" y="356616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05840" y="3575304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Realism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3849624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Markov weather differs from actual climate patterns. NASA POWER integration is available but training on real weather is computationally expensive.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804672"/>
            <a:ext cx="41148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70916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CHALLENGES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09160" y="1143000"/>
            <a:ext cx="1965960" cy="1463040"/>
          </a:xfrm>
          <a:prstGeom prst="rect">
            <a:avLst/>
          </a:prstGeom>
          <a:solidFill>
            <a:srgbClr val="F0F4FA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709160" y="1143000"/>
            <a:ext cx="196596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73168" y="114300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1: Sample Efficiency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453896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episodes needed for stable convergence; tabular environments would converge much faster.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12280" y="1143000"/>
            <a:ext cx="1965960" cy="1463040"/>
          </a:xfrm>
          <a:prstGeom prst="rect">
            <a:avLst/>
          </a:prstGeom>
          <a:solidFill>
            <a:srgbClr val="F0F4FA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6812280" y="1143000"/>
            <a:ext cx="196596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876288" y="114300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2: Sequence Memory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903720" y="1453896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BiLSTM window may miss long-term soil depletion trends visible over 30+ days.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788920"/>
            <a:ext cx="1965960" cy="1463040"/>
          </a:xfrm>
          <a:prstGeom prst="rect">
            <a:avLst/>
          </a:prstGeom>
          <a:solidFill>
            <a:srgbClr val="F0F4FA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709160" y="2788920"/>
            <a:ext cx="196596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773168" y="278892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3: Hyperparameter Sensitivity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00600" y="3099816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entropy temperature α is auto-tuned but sensitive to initial learning rate; poor init causes early collapse.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12280" y="2788920"/>
            <a:ext cx="1965960" cy="1463040"/>
          </a:xfrm>
          <a:prstGeom prst="rect">
            <a:avLst/>
          </a:prstGeom>
          <a:solidFill>
            <a:srgbClr val="F0F4FA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812280" y="2788920"/>
            <a:ext cx="196596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876288" y="278892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4: Multi-Objective Balancing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903720" y="3099816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vs. stress trade-off: weights w_y, w_w, w_s need crop-specific tuning for optimal policy.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System Architecture — DRL Formulation &amp; Model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264408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FORMULATION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10058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(State)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298448" y="1143000"/>
            <a:ext cx="2240280" cy="548640"/>
          </a:xfrm>
          <a:prstGeom prst="rect">
            <a:avLst/>
          </a:prstGeom>
          <a:solidFill>
            <a:srgbClr val="F4F6F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89888" y="11887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16-dim: LAI, biomass, soil water, weather, stage one-hot, budget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64792"/>
            <a:ext cx="10058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74320" y="176479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(Action)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764792"/>
            <a:ext cx="2240280" cy="548640"/>
          </a:xfrm>
          <a:prstGeom prst="rect">
            <a:avLst/>
          </a:prstGeom>
          <a:solidFill>
            <a:srgbClr val="F4F6F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389888" y="181051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[0, 60 mm] irrigation depth per day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386584"/>
            <a:ext cx="10058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4320" y="238658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(Reward)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98448" y="2386584"/>
            <a:ext cx="2240280" cy="548640"/>
          </a:xfrm>
          <a:prstGeom prst="rect">
            <a:avLst/>
          </a:prstGeom>
          <a:solidFill>
            <a:srgbClr val="F4F6F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389888" y="2432304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Stage-aware: w_y·yield − w_w·water_cost×scarcity − w_s·stress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008376"/>
            <a:ext cx="10058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74320" y="300837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(Transition)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98448" y="3008376"/>
            <a:ext cx="2240280" cy="548640"/>
          </a:xfrm>
          <a:prstGeom prst="rect">
            <a:avLst/>
          </a:prstGeom>
          <a:solidFill>
            <a:srgbClr val="F4F6F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1389888" y="30540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FAO-56 soil water + stochastic weather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630168"/>
            <a:ext cx="100584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27432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(Discount)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98448" y="3630168"/>
            <a:ext cx="2240280" cy="548640"/>
          </a:xfrm>
          <a:prstGeom prst="rect">
            <a:avLst/>
          </a:prstGeom>
          <a:solidFill>
            <a:srgbClr val="F4F6F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389888" y="367588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— long horizon (170-day cotton season)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804672"/>
            <a:ext cx="50292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840480" y="804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ALGORITHM OVERVIEW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74320" y="45262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Buffer → sample (seq, a, r, seq', done) → update actor + twin critics with soft target update (τ = 0.005)</a:t>
            </a:r>
            <a:endParaRPr lang="en-US" sz="900" dirty="0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91"/>
          <a:stretch/>
        </p:blipFill>
        <p:spPr>
          <a:xfrm>
            <a:off x="3630168" y="1101852"/>
            <a:ext cx="5437632" cy="32825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Deep Neural Network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554480" cy="86868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Sequence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(B, 7, 16)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obs window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828800" y="1440180"/>
            <a:ext cx="347472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148840" y="1005840"/>
            <a:ext cx="1554480" cy="868680"/>
          </a:xfrm>
          <a:prstGeom prst="rect">
            <a:avLst/>
          </a:prstGeom>
          <a:solidFill>
            <a:srgbClr val="006B6B"/>
          </a:solidFill>
          <a:ln w="12700">
            <a:solidFill>
              <a:srgbClr val="006B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148840" y="10058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BiLSTM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hidden=64×2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(B, 7, 128)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1440180"/>
            <a:ext cx="347472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023360" y="1005840"/>
            <a:ext cx="1554480" cy="8686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023360" y="10058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Attn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softmax(Wh)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sum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577840" y="1440180"/>
            <a:ext cx="347472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897880" y="1005840"/>
            <a:ext cx="1554480" cy="868680"/>
          </a:xfrm>
          <a:prstGeom prst="rect">
            <a:avLst/>
          </a:prstGeom>
          <a:solidFill>
            <a:srgbClr val="5B2C8A"/>
          </a:solidFill>
          <a:ln w="12700">
            <a:solidFill>
              <a:srgbClr val="5B2C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897880" y="10058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Proj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Linear(128→128)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+ ReLU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452360" y="1440180"/>
            <a:ext cx="347472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772400" y="1005840"/>
            <a:ext cx="1188720" cy="86868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772400" y="1005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Attn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softmax(Wc)×c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(B, 128)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1965960"/>
            <a:ext cx="8778240" cy="3657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28600" y="2011680"/>
            <a:ext cx="8778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TEMPORAL-SPATIAL ENCODER (independent encoders for Actor &amp; Critic)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2377440"/>
            <a:ext cx="4114800" cy="29260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274320" y="2377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BRANCH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7249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(128) → Linear(128→256) → ReLU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07238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Linear(256→256) → ReLU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4198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μ head: Linear(256→1)  |  σ head: Linear(256→1)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37673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action = tanh(μ + ε·σ) × 30 + 30   [reparameterization]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377440"/>
            <a:ext cx="4114800" cy="29260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754880" y="2377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Q-NETWORK BRANCH (×2)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27249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concat(context, action) → Linear(129→256) → ReLU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37760" y="307238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Linear(256→256) → ReLU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37760" y="341985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Q₁ = Linear(256→1)   Q₂ = Linear(256→1)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37760" y="37673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Q_target = r + γ·min(Q₁',Q₂') − α·log 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Parameters: TSA Encoder ≈ 420K | Actor ≈ 200K | Twin Critics ≈ 400K | Grand Total ≈ 1.02M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Implementation Architecture &amp; Class Diagram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28346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2834640" cy="292608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28600" y="8046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«environment.py»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CropIrrigationEnv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0040" y="112471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crop_profile: dict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0040" y="136245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weather: Markov/NASA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20040" y="160020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soil_water: float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0040" y="183794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stage: 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" y="2075688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20040" y="210312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reset() → obs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0040" y="232257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step(action) → obs,r,done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0040" y="254203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_compute_reward()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0040" y="276148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_update_crop()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246120" y="804672"/>
            <a:ext cx="283464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46120" y="804672"/>
            <a:ext cx="2834640" cy="2926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46120" y="8046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«sac_agent.py»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TemporalSpatialEncoder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12471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bilstm: LSTM(16,128,2,bi)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37560" y="136245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temporal_attn: MLP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37560" y="160020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feature_attn: MLP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46120" y="1837944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337560" y="1865376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forward(seq) → (B,128)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46120" y="2423160"/>
            <a:ext cx="2834640" cy="2395728"/>
          </a:xfrm>
          <a:prstGeom prst="rect">
            <a:avLst/>
          </a:prstGeom>
          <a:solidFill>
            <a:srgbClr val="FFFFFF"/>
          </a:solidFill>
          <a:ln w="1905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246120" y="2423160"/>
            <a:ext cx="2834640" cy="29260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46120" y="24231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«sac_agent.py»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TSASACAgent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37560" y="274320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encoder: TSA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37560" y="298094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actor: GaussianActor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37560" y="32186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q1,q2: QNetwork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337560" y="345643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alpha: auto-tuned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37560" y="369417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buffer: SeqReplayBuffer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46120" y="3931920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3337560" y="395935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select_action(seq)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337560" y="417880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update(batch)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337560" y="439826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save/load_transfer()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217920" y="804672"/>
            <a:ext cx="283464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5B2C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217920" y="804672"/>
            <a:ext cx="2834640" cy="292608"/>
          </a:xfrm>
          <a:prstGeom prst="rect">
            <a:avLst/>
          </a:prstGeom>
          <a:solidFill>
            <a:srgbClr val="5B2C8A"/>
          </a:solidFill>
          <a:ln w="12700">
            <a:solidFill>
              <a:srgbClr val="5B2C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217920" y="8046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«sac_agent.py»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GaussianActor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09360" y="112471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net: MLP(128→256→256)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309360" y="136245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mu_head, log_std_head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17920" y="1600200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309360" y="162763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forward() → μ, σ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09360" y="184708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2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sample() → a, log_π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28600" y="3291840"/>
            <a:ext cx="2834640" cy="14813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B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228600" y="3291840"/>
            <a:ext cx="2834640" cy="292608"/>
          </a:xfrm>
          <a:prstGeom prst="rect">
            <a:avLst/>
          </a:prstGeom>
          <a:solidFill>
            <a:srgbClr val="006B6B"/>
          </a:solidFill>
          <a:ln w="12700">
            <a:solidFill>
              <a:srgbClr val="006B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228600" y="3291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«baselines.py»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0040" y="361188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RandomPolicy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20040" y="384962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ThresholdPolicy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0040" y="408736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FarmerExpert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8600" y="4325112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435254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select_action(obs)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17920" y="2816352"/>
            <a:ext cx="2834640" cy="1682496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6217920" y="2816352"/>
            <a:ext cx="2834640" cy="29260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6217920" y="2816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«visualize.py»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09360" y="313639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history: JSON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309360" y="337413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comparison: dict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217920" y="3611880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6309360" y="363931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plot_training()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309360" y="3858768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plot_ablation()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309360" y="4078224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plot_comparison()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Implementation Details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251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251960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124712"/>
            <a:ext cx="403250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Gymnasium-compatible custom env (CropIrrigationEnv)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FAO-56 soil water balance: θ_{t+1} = θ_t + (rain+irr)/rd − ET_c/rd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Radiation-Use Efficiency (RUE) crop growth model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2-state Markov weather + NASA POWER real data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Crop: Cotton (170 days growing season)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budgets: Generous (1500mm) / Moderate (400mm) / Scarce (250mm)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251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425196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Training Pipeline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64608" y="1124712"/>
            <a:ext cx="403250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replay buffer stores (seq_t, a_t, r_t, seq_{t+1}, done)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64, warm-up: 1000 steps before first update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target update: τ=0.005 every step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clipping: max_norm=1.0 on actor and critics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(float16) with GradScaler for memory efficiency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learning: freeze encoder for N epochs → unfreeze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971800"/>
            <a:ext cx="4251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4251960" cy="274320"/>
          </a:xfrm>
          <a:prstGeom prst="rect">
            <a:avLst/>
          </a:prstGeom>
          <a:solidFill>
            <a:srgbClr val="006B6B"/>
          </a:solidFill>
          <a:ln w="12700">
            <a:solidFill>
              <a:srgbClr val="006B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274320" y="29718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Implemented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403250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Random: uniform sample ∈ [0, 60]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(10-day fixed): 10mm every 10 days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(0.45): irrigate to FC when θ &lt; 0.45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FarmerExpert: stage-aware fixed schedule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PPO-MLP: on-policy, flat state (no LSTM)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DDPG-MLP: off-policy, flat state (no LSTM)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971800"/>
            <a:ext cx="4251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4251960" cy="27432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754880" y="29718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Libraries &amp;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64608" y="3273552"/>
            <a:ext cx="403250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 2.x, Gymnasium 0.29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Pandas, Matplotlib for data/viz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saved as .pt files (actor+critics+encoder)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logged as JSON: episode, reward, profit, IWUE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Visualize.py generates training curves + ablation plots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demo_app.py for interactive policy demonstration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Results &amp; Analysis — Performance Metrics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EXPERIMENT (1000 eps, Cotton, Generous Budget)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19202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1143000"/>
            <a:ext cx="128016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212848" y="114300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($/ha)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1296" y="1143000"/>
            <a:ext cx="12344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511296" y="11430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(kg/ha)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64024" y="1143000"/>
            <a:ext cx="141732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764024" y="114300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(mm)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99632" y="1143000"/>
            <a:ext cx="12344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199632" y="11430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IWUE (kg/mm)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1143000"/>
            <a:ext cx="12344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452360" y="11430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Days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1508760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20040" y="15087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12848" y="1508760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2258568" y="150876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11296" y="15087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557016" y="15087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64024" y="1508760"/>
            <a:ext cx="14173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09744" y="1508760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99632" y="15087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245352" y="15087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52360" y="15087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7498080" y="15087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1965960"/>
            <a:ext cx="19202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19659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(10-day)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12848" y="1965960"/>
            <a:ext cx="128016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2258568" y="196596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$836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11296" y="19659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557016" y="19659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5,713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64024" y="1965960"/>
            <a:ext cx="141732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809744" y="1965960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765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99632" y="19659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245352" y="19659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7.47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52360" y="19659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7498080" y="19659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74320" y="2423160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20040" y="24231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(0.45)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12848" y="2423160"/>
            <a:ext cx="1280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258568" y="242316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$946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11296" y="24231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557016" y="24231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7,600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764024" y="2423160"/>
            <a:ext cx="14173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4809744" y="2423160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199632" y="24231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245352" y="24231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452360" y="2423160"/>
            <a:ext cx="12344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7498080" y="24231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74320" y="2880360"/>
            <a:ext cx="19202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320040" y="28803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Expert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12848" y="2880360"/>
            <a:ext cx="128016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2258568" y="288036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511296" y="28803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557016" y="28803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7,600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764024" y="2880360"/>
            <a:ext cx="141732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4809744" y="2880360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1,240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199632" y="28803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6245352" y="28803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452360" y="2880360"/>
            <a:ext cx="1234440" cy="43891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7498080" y="28803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74320" y="3337560"/>
            <a:ext cx="192024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320040" y="333756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(Ours)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212848" y="3337560"/>
            <a:ext cx="128016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2258568" y="3337560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$1,039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511296" y="3337560"/>
            <a:ext cx="123444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557016" y="33375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7,600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764024" y="3337560"/>
            <a:ext cx="141732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809744" y="3337560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1,152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6199632" y="3337560"/>
            <a:ext cx="123444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6245352" y="33375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6.60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452360" y="3337560"/>
            <a:ext cx="123444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7498080" y="3337560"/>
            <a:ext cx="1143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16.0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457200" y="4005072"/>
            <a:ext cx="2468880" cy="8686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502920" y="4023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+4.9%</a:t>
            </a:r>
            <a:endParaRPr lang="en-US" sz="2400" dirty="0"/>
          </a:p>
        </p:txBody>
      </p:sp>
      <p:sp>
        <p:nvSpPr>
          <p:cNvPr id="81" name="Text 79"/>
          <p:cNvSpPr/>
          <p:nvPr/>
        </p:nvSpPr>
        <p:spPr>
          <a:xfrm>
            <a:off x="1463040" y="40416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Farmer Expert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Profit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291840" y="4005072"/>
            <a:ext cx="2468880" cy="86868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81"/>
          <p:cNvSpPr/>
          <p:nvPr/>
        </p:nvSpPr>
        <p:spPr>
          <a:xfrm>
            <a:off x="3337560" y="4023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651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−7.1%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4297680" y="40416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Irrigation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Threshold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6126480" y="4005072"/>
            <a:ext cx="2468880" cy="868680"/>
          </a:xfrm>
          <a:prstGeom prst="rect">
            <a:avLst/>
          </a:prstGeom>
          <a:solidFill>
            <a:srgbClr val="E3F2FD"/>
          </a:solidFill>
          <a:ln w="19050">
            <a:solidFill>
              <a:srgbClr val="0277B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6172200" y="4023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77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6.60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7132320" y="40416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IWUE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kg/mm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Results — Training Curves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804672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5806440" y="804672"/>
          <a:ext cx="315468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2"/>
          <p:cNvGraphicFramePr/>
          <p:nvPr/>
        </p:nvGraphicFramePr>
        <p:xfrm>
          <a:off x="5806440" y="2514600"/>
          <a:ext cx="3154680" cy="16276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 3"/>
          <p:cNvSpPr/>
          <p:nvPr/>
        </p:nvSpPr>
        <p:spPr>
          <a:xfrm>
            <a:off x="274320" y="420624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converges to reward ~1000 by episode 1000 — significantly outperforming PPO (+160%) and DDPG (+22%). Entropy α decays from 0.20 → 0.073, indicating progressive policy sharpening. Critic loss stabilizes below 0.12.</a:t>
            </a:r>
            <a:endParaRPr lang="en-US" sz="1000" dirty="0"/>
          </a:p>
        </p:txBody>
      </p:sp>
      <p:pic>
        <p:nvPicPr>
          <p:cNvPr id="9" name="Picture 8" descr="training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804672"/>
            <a:ext cx="5303520" cy="3291840"/>
          </a:xfrm>
          <a:prstGeom prst="rect">
            <a:avLst/>
          </a:prstGeom>
        </p:spPr>
      </p:pic>
      <p:pic>
        <p:nvPicPr>
          <p:cNvPr id="10" name="Picture 9" descr="agent_metric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6440" y="804672"/>
            <a:ext cx="3154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smtClean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Picture 10" descr="poli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4389120" cy="3992880"/>
          </a:xfrm>
          <a:prstGeom prst="rect">
            <a:avLst/>
          </a:prstGeom>
        </p:spPr>
      </p:pic>
      <p:pic>
        <p:nvPicPr>
          <p:cNvPr id="12" name="Picture 11" descr="irrigation_yield_trade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804672"/>
            <a:ext cx="4114800" cy="2116836"/>
          </a:xfrm>
          <a:prstGeom prst="rect">
            <a:avLst/>
          </a:prstGeom>
        </p:spPr>
      </p:pic>
      <p:pic>
        <p:nvPicPr>
          <p:cNvPr id="13" name="Picture 12" descr="robustness_analy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971800"/>
            <a:ext cx="4114800" cy="210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319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Hyperparameter Tuning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04110"/>
            <a:ext cx="4254477" cy="25659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804110"/>
            <a:ext cx="4254477" cy="256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TABLE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1" y="1096638"/>
            <a:ext cx="1240302" cy="29325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74321" y="1096638"/>
            <a:ext cx="1240302" cy="29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534380" y="1096638"/>
            <a:ext cx="790703" cy="29325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534380" y="1096638"/>
            <a:ext cx="790703" cy="29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Used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48853" y="1096638"/>
            <a:ext cx="862584" cy="29325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348853" y="1096638"/>
            <a:ext cx="862584" cy="29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Range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34920" y="1096638"/>
            <a:ext cx="1293877" cy="29325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234920" y="1096638"/>
            <a:ext cx="1293877" cy="29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1" y="1407454"/>
            <a:ext cx="1240302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20040" y="1407454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(actor)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534380" y="1407454"/>
            <a:ext cx="790703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580101" y="1407454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3×10⁻⁴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348853" y="1407454"/>
            <a:ext cx="862584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394572" y="1407454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1e-4 – 1e-3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34920" y="1407454"/>
            <a:ext cx="1293877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3280641" y="1407454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controls convergence speed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1" y="1754926"/>
            <a:ext cx="1240302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20040" y="1754926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(critic)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34380" y="1754926"/>
            <a:ext cx="790703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580101" y="1754926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3×10⁻⁴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348853" y="1754926"/>
            <a:ext cx="862584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2394572" y="1754926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1e-4 – 1e-3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34920" y="1754926"/>
            <a:ext cx="1293877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280641" y="1754926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stability of Q targets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1" y="2102398"/>
            <a:ext cx="1240302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102398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Buffer Size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534380" y="2102398"/>
            <a:ext cx="790703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1580101" y="2102398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348853" y="2102398"/>
            <a:ext cx="862584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394572" y="2102398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– 500K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34920" y="2102398"/>
            <a:ext cx="1293877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280641" y="2102398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diversity of samples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1" y="2449870"/>
            <a:ext cx="1240302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320040" y="2449870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534380" y="2449870"/>
            <a:ext cx="790703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1580101" y="2449870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48853" y="2449870"/>
            <a:ext cx="862584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394572" y="2449870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– 256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34920" y="2449870"/>
            <a:ext cx="1293877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80641" y="2449870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gradient variance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1" y="2797342"/>
            <a:ext cx="1240302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2797342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Factor (γ)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534380" y="2797342"/>
            <a:ext cx="790703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580101" y="2797342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348853" y="2797342"/>
            <a:ext cx="862584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2394572" y="2797342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 – 0.999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234920" y="2797342"/>
            <a:ext cx="1293877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80641" y="2797342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long horizon = 0.99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1" y="3144814"/>
            <a:ext cx="1240302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320040" y="3144814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Update (τ)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534380" y="3144814"/>
            <a:ext cx="790703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1580101" y="3144814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348853" y="3144814"/>
            <a:ext cx="862584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2394572" y="3144814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 – 0.01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234920" y="3144814"/>
            <a:ext cx="1293877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80641" y="3144814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target net stability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74321" y="3492286"/>
            <a:ext cx="1240302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320040" y="3492286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Hidden Dim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534380" y="3492286"/>
            <a:ext cx="790703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1580101" y="3492286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348853" y="3492286"/>
            <a:ext cx="862584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394572" y="3492286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– 256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234920" y="3492286"/>
            <a:ext cx="1293877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3280641" y="3492286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encoder capacity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74321" y="3839758"/>
            <a:ext cx="1240302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3839758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Seq. Length (T)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534380" y="3839758"/>
            <a:ext cx="790703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1580101" y="3839758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days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348853" y="3839758"/>
            <a:ext cx="862584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394572" y="3839758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14 days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34920" y="3839758"/>
            <a:ext cx="1293877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80641" y="3839758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memory horizon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74321" y="4187230"/>
            <a:ext cx="1240302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187230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α (entropy)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1534380" y="4187230"/>
            <a:ext cx="790703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1580101" y="4187230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348853" y="4187230"/>
            <a:ext cx="862584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394572" y="4187230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– 0.5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3234920" y="4187230"/>
            <a:ext cx="1293877" cy="32990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80641" y="4187230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exploration-exploitation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274321" y="4534702"/>
            <a:ext cx="1240302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534702"/>
            <a:ext cx="1186376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Steps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534380" y="4534702"/>
            <a:ext cx="790703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1580101" y="4534702"/>
            <a:ext cx="718820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348853" y="4534702"/>
            <a:ext cx="862584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2394572" y="4534702"/>
            <a:ext cx="790703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– 5000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234920" y="4534702"/>
            <a:ext cx="1293877" cy="329906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3280641" y="4534702"/>
            <a:ext cx="1221995" cy="3299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buffer pre-fill</a:t>
            </a:r>
            <a:endParaRPr lang="en-US" sz="900" dirty="0"/>
          </a:p>
        </p:txBody>
      </p:sp>
      <p:pic>
        <p:nvPicPr>
          <p:cNvPr id="97" name="Picture 96" descr="hyperparameter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16" y="841248"/>
            <a:ext cx="4528453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</a:rPr>
              <a:t>Comparison with State of the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4663440" cy="2560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7955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FEATURE-BY-FEATURE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15568"/>
            <a:ext cx="1417320" cy="329184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" y="1143000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1709928" y="1115568"/>
            <a:ext cx="1581912" cy="329184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64792" y="1072134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Calibri"/>
              </a:rPr>
              <a:t>Anchor Paper (Yin et al. 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1115568"/>
            <a:ext cx="1581912" cy="329184"/>
          </a:xfrm>
          <a:prstGeom prst="rect">
            <a:avLst/>
          </a:prstGeom>
          <a:solidFill>
            <a:srgbClr val="1F3864"/>
          </a:solidFill>
          <a:ln w="952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64992" y="1143000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Our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44752"/>
            <a:ext cx="1417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" y="1472184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Algorithm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09928" y="1444752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64792" y="1472184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TSA-SAC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1444752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1472184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TSA-SAC style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773936"/>
            <a:ext cx="1417320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9184" y="1801368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Environment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09928" y="1773936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764792" y="1801368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DSSAT (licensed simulator)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0128" y="1773936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64992" y="1801368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FAO-56 surrogate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103120"/>
            <a:ext cx="1417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" y="2130552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Weather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09928" y="2103120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64792" y="2130552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Historical seasons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10128" y="2103120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64992" y="2130552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Markov + NASA POWER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432304"/>
            <a:ext cx="1417320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9184" y="2459736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Crops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09928" y="2432304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64792" y="2459736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Cotton only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0128" y="2432304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2459736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Cotton, Wheat, Maize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761488"/>
            <a:ext cx="1417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9184" y="2788920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Action space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09928" y="2761488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764792" y="2788920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Continuous [0–60 mm]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10128" y="2761488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64992" y="2788920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Continuous [0–60 mm]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90672"/>
            <a:ext cx="1417320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9184" y="3118104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Best Profit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09928" y="3090672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764792" y="3118104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~$1,100 / ha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10128" y="3090672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364992" y="3118104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C2120"/>
                </a:solidFill>
                <a:latin typeface="Calibri"/>
              </a:rPr>
              <a:t>$1,039 / ha (≈94%)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419856"/>
            <a:ext cx="1417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9184" y="3447288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Multi-zone farming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09928" y="3419856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764792" y="3447288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✗  Not implemented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10128" y="3419856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364992" y="3447288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6B3A"/>
                </a:solidFill>
                <a:latin typeface="Calibri"/>
              </a:rPr>
              <a:t>✓  Implemented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749040"/>
            <a:ext cx="1417320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9184" y="3776472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Transfer learning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09928" y="3749040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764792" y="3776472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✗  Not implemented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10128" y="3749040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364992" y="3776472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6B3A"/>
                </a:solidFill>
                <a:latin typeface="Calibri"/>
              </a:rPr>
              <a:t>✓  Cross-crop encoder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078224"/>
            <a:ext cx="141732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29184" y="4105656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Real weather data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09928" y="4078224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764792" y="4105656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✗  Not used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10128" y="4078224"/>
            <a:ext cx="158191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364992" y="4105656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6B3A"/>
                </a:solidFill>
                <a:latin typeface="Calibri"/>
              </a:rPr>
              <a:t>✓  NASA POWER API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407408"/>
            <a:ext cx="1417320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9184" y="4434840"/>
            <a:ext cx="13075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Water budget control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09928" y="4407408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764792" y="4434840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✗  Not modelled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310128" y="4407408"/>
            <a:ext cx="1581912" cy="329184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364992" y="4434840"/>
            <a:ext cx="1472184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6B3A"/>
                </a:solidFill>
                <a:latin typeface="Calibri"/>
              </a:rPr>
              <a:t>✓  3 scarcity levels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166360" y="1306664"/>
            <a:ext cx="3749039" cy="25603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166359" y="132359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Calibri"/>
              </a:rPr>
              <a:t>WHERE WE GO BEYOND THE PAPER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166359" y="1680210"/>
            <a:ext cx="54864" cy="2743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294375" y="168021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6B3A"/>
                </a:solidFill>
                <a:latin typeface="Calibri"/>
              </a:rPr>
              <a:t>Multi-Crop Transfer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84847" y="1633314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1C2120"/>
                </a:solidFill>
                <a:latin typeface="Calibri"/>
              </a:rPr>
              <a:t>Pre-train on cotton → fine-tune wheat/maize. Reduces training time ~40%. Not in paper.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66359" y="2082318"/>
            <a:ext cx="54864" cy="274320"/>
          </a:xfrm>
          <a:prstGeom prst="rect">
            <a:avLst/>
          </a:prstGeom>
          <a:solidFill>
            <a:srgbClr val="00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294375" y="2094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006B6B"/>
                </a:solidFill>
                <a:latin typeface="Calibri"/>
              </a:rPr>
              <a:t>Multi-Zone Farming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84847" y="2064732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1C2120"/>
                </a:solidFill>
                <a:latin typeface="Calibri"/>
              </a:rPr>
              <a:t>Shared-reservoir </a:t>
            </a:r>
            <a:r>
              <a:rPr sz="850" b="0" i="0" dirty="0" err="1">
                <a:solidFill>
                  <a:srgbClr val="1C2120"/>
                </a:solidFill>
                <a:latin typeface="Calibri"/>
              </a:rPr>
              <a:t>env</a:t>
            </a:r>
            <a:r>
              <a:rPr sz="850" b="0" i="0" dirty="0">
                <a:solidFill>
                  <a:srgbClr val="1C2120"/>
                </a:solidFill>
                <a:latin typeface="Calibri"/>
              </a:rPr>
              <a:t> with zone-wise allocation across 2–3 crops. Not in paper.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66359" y="2468880"/>
            <a:ext cx="54864" cy="274320"/>
          </a:xfrm>
          <a:prstGeom prst="rect">
            <a:avLst/>
          </a:prstGeom>
          <a:solidFill>
            <a:srgbClr val="5B2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271515" y="2487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 dirty="0">
                <a:solidFill>
                  <a:srgbClr val="5B2C8A"/>
                </a:solidFill>
                <a:latin typeface="Calibri"/>
              </a:rPr>
              <a:t>3 Scarcity Levels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84847" y="2409268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1C2120"/>
                </a:solidFill>
                <a:latin typeface="Calibri"/>
              </a:rPr>
              <a:t>Generous / Moderate / Scarce budgets force real trade-offs. Paper has no budget constraint.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Ablation Study 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149820" y="804672"/>
            <a:ext cx="3786383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49820" y="804672"/>
            <a:ext cx="3786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(500 eps, 400mm budget, 3 seeds)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49820" y="1179719"/>
            <a:ext cx="1117977" cy="30621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149820" y="1173703"/>
            <a:ext cx="1117977" cy="306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91855" y="1187313"/>
            <a:ext cx="611980" cy="2926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291855" y="1187313"/>
            <a:ext cx="611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($)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2549" y="1187313"/>
            <a:ext cx="815974" cy="2926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922549" y="1187313"/>
            <a:ext cx="8159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(kg/ha)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61391" y="1187313"/>
            <a:ext cx="543983" cy="2926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761391" y="1187313"/>
            <a:ext cx="5439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24710" y="1187313"/>
            <a:ext cx="611493" cy="2926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324710" y="1187313"/>
            <a:ext cx="6114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Days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49820" y="1479921"/>
            <a:ext cx="1117977" cy="411480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86396" y="147992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(fixed)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91855" y="1498209"/>
            <a:ext cx="611980" cy="39319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328431" y="149820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$817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22549" y="1498209"/>
            <a:ext cx="815974" cy="39319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1959125" y="149820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61391" y="1498209"/>
            <a:ext cx="543983" cy="39319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2797967" y="149820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11.79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24710" y="1498209"/>
            <a:ext cx="611493" cy="39319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361286" y="149820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94.8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49820" y="1891401"/>
            <a:ext cx="1117977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86396" y="189140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SAC-MLP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291855" y="1909689"/>
            <a:ext cx="611980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1328431" y="190968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2549" y="1909689"/>
            <a:ext cx="815974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1959125" y="190968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4,652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61391" y="1909689"/>
            <a:ext cx="543983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2797967" y="190968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4710" y="1909689"/>
            <a:ext cx="611493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3361286" y="190968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49820" y="2302881"/>
            <a:ext cx="1117977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186396" y="230288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SAC-BiLSTM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291855" y="2321169"/>
            <a:ext cx="611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1328431" y="232116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$803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922549" y="2321169"/>
            <a:ext cx="81597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1959125" y="232116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4,651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61391" y="2321169"/>
            <a:ext cx="543983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797967" y="232116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24710" y="2321169"/>
            <a:ext cx="611493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361286" y="232116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49820" y="2714361"/>
            <a:ext cx="1117977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186396" y="271436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DDPG-MLP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291855" y="2732649"/>
            <a:ext cx="611980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1328431" y="273264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922549" y="2732649"/>
            <a:ext cx="815974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1959125" y="273264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4,563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61391" y="2732649"/>
            <a:ext cx="543983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2797967" y="273264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24710" y="2732649"/>
            <a:ext cx="611493" cy="393192"/>
          </a:xfrm>
          <a:prstGeom prst="rect">
            <a:avLst/>
          </a:prstGeom>
          <a:solidFill>
            <a:srgbClr val="F4F6FA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3361286" y="273264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49820" y="3125841"/>
            <a:ext cx="1117977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186396" y="312584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(dynamic)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1291855" y="3144129"/>
            <a:ext cx="6119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1328431" y="314412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$783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922549" y="3144129"/>
            <a:ext cx="815974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1959125" y="314412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4,557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761391" y="3144129"/>
            <a:ext cx="543983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2797967" y="314412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11.39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324710" y="3144129"/>
            <a:ext cx="611493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3361286" y="314412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49820" y="3537321"/>
            <a:ext cx="1117977" cy="411480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186396" y="3537321"/>
            <a:ext cx="1070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PPO-MLP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291855" y="3555609"/>
            <a:ext cx="611980" cy="393192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1328431" y="3555609"/>
            <a:ext cx="557582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922549" y="3555609"/>
            <a:ext cx="815974" cy="393192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1959125" y="3555609"/>
            <a:ext cx="76157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2761391" y="3555609"/>
            <a:ext cx="543983" cy="393192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2797967" y="3555609"/>
            <a:ext cx="489584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324710" y="3555609"/>
            <a:ext cx="611493" cy="393192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3361286" y="3555609"/>
            <a:ext cx="567021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153.2</a:t>
            </a:r>
            <a:endParaRPr lang="en-US" sz="900" dirty="0"/>
          </a:p>
        </p:txBody>
      </p:sp>
      <p:pic>
        <p:nvPicPr>
          <p:cNvPr id="129" name="Picture 128" descr="ablation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734" y="719211"/>
            <a:ext cx="4829666" cy="2103120"/>
          </a:xfrm>
          <a:prstGeom prst="rect">
            <a:avLst/>
          </a:prstGeom>
        </p:spPr>
      </p:pic>
      <p:pic>
        <p:nvPicPr>
          <p:cNvPr id="130" name="Picture 129" descr="ablation_learning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5734" y="2929245"/>
            <a:ext cx="482966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8503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</a:rPr>
              <a:t>Results — Generalization: Unseen Environments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859536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795528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TSA-SAC AGENT (trained: arid, generous) EVALUATED ON UNSEEN CLIMATES &amp; WATER BUDGETS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532120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43600" y="1143000"/>
            <a:ext cx="2971800" cy="3749039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0" y="1143000"/>
            <a:ext cx="297180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0" y="114300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16752" y="1490472"/>
            <a:ext cx="45720" cy="566928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1490472"/>
            <a:ext cx="27157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6B3A"/>
                </a:solidFill>
                <a:latin typeface="Calibri"/>
              </a:rPr>
              <a:t>Profit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00784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Profit falls from $1,201 (trained env) to $587 in worst case (arid, scarce) — a 51% reduction, showing the challenge of extreme scarcity.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6752" y="2148840"/>
            <a:ext cx="4572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2148840"/>
            <a:ext cx="27157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IWUE Improves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59152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IWUE increases from 8.9 → 13.2 kg/mm under scarce water — agent adapts by irrigating more precisely when budget is tight.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2" y="2807208"/>
            <a:ext cx="45720" cy="566928"/>
          </a:xfrm>
          <a:prstGeom prst="rect">
            <a:avLst/>
          </a:prstGeom>
          <a:solidFill>
            <a:srgbClr val="006B6B"/>
          </a:solidFill>
          <a:ln w="12700">
            <a:solidFill>
              <a:srgbClr val="00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2807208"/>
            <a:ext cx="27157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B6B"/>
                </a:solidFill>
                <a:latin typeface="Calibri"/>
              </a:rPr>
              <a:t>Zero Stress (humid)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17520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Agent achieves 0 stress days in humid environment — wetter climate naturally reduces stress even without policy changes.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16752" y="3465576"/>
            <a:ext cx="45720" cy="56692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3465576"/>
            <a:ext cx="27157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Yield Degradation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75888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Max yield drops from 7600 → 3296 kg/ha in scarce arid conditions — primarily due to hard water budget constraint.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6752" y="4123944"/>
            <a:ext cx="45720" cy="566928"/>
          </a:xfrm>
          <a:prstGeom prst="rect">
            <a:avLst/>
          </a:prstGeom>
          <a:solidFill>
            <a:srgbClr val="5B2C8A"/>
          </a:solidFill>
          <a:ln w="12700">
            <a:solidFill>
              <a:srgbClr val="5B2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0" y="4123944"/>
            <a:ext cx="27157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2C8A"/>
                </a:solidFill>
                <a:latin typeface="Calibri"/>
              </a:rPr>
              <a:t>Generalization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334256"/>
            <a:ext cx="2715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2120"/>
                </a:solidFill>
                <a:latin typeface="Calibri"/>
              </a:rPr>
              <a:t>Despite no retraining, TSA-SAC outperforms Threshold baseline in all unseen environments — confirms policy robustness.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489204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555555"/>
                </a:solidFill>
                <a:latin typeface="Calibri"/>
              </a:rPr>
              <a:t>30 evaluation episodes per environment | No retraining — zero-shot generalization | Error bars shown for stochastic environments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Demo — Key Code Snippets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 ENCODER (sac_agent.py)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4114800" cy="25146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47472" y="1170432"/>
            <a:ext cx="3968496" cy="2404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TemporalSpatialEncoder(nn.Module):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__init__(self, obs_dim, hidden=128):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self.bilstm = nn.LSTM(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obs_dim, hidden, 2,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batch_first=True, bidirectional=True)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self.temporal_attn = nn.Sequential(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nn.Linear(hidden*2, hidden),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nn.Tanh(), nn.Linear(hidden, 1))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self.context_proj = nn.Sequential(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nn.Linear(hidden*2, hidden),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nn.LayerNorm(hidden), nn.ReLU())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self.feature_attn = nn.Sequential(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nn.Linear(hidden, hidden), nn.ReLU(),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nn.Linear(hidden, hidden))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forward(self, seq):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h, _ = self.bilstm(seq)          # B,T,2H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 = softmax(self.temporal_attn(h))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self.context_proj((h*w).sum(1))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fw = softmax(self.feature_attn(c))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* fw                    # B,H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0" y="804672"/>
            <a:ext cx="429768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0" y="8046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LOOP (train.py)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1115568"/>
            <a:ext cx="4297680" cy="25146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645152" y="1170432"/>
            <a:ext cx="4151376" cy="2404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training loop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ep in range(1, episodes + 1):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obs, _ = env.reset(seed=ep)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seq_window = deque([obs]*T, maxlen=T)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ep_reward =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while not done: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seq = np.array(seq_window)  # (T, obs)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agent.select_action(seq)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obs2, r, done, _, info = env.step(a)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next_seq = list(seq_window)[1:]+[obs2]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buffer.push(seq, a, r, next_seq, done)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len(buffer) &gt; warmup: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batch = buffer.sample(batch_size)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metrics = agent.update(batch)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seq_window.append(obs2)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ep_reward += 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save best model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ep_profit &gt; best_profit: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agent.save('checkpoints/best.pt')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3730752"/>
            <a:ext cx="859536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74320" y="373075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RUN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041648"/>
            <a:ext cx="8595360" cy="91440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84048" y="4087368"/>
            <a:ext cx="83759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--crop cotton --climate arid --episodes 1000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--run-ablation --ablation-episodes 500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--eval-only --model checkpoints/tsa_sac_improved_best.pt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visualize.py --no-show       # generates result plots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demo_app.py                  # interactive demo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5720" cy="173736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8869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TSA-SAC vs Baselines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88720"/>
            <a:ext cx="3977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outperforms all baselines in profit and IWUE. The temporal attention mechanism captures irrigation patterns over the 7-day window that flat MLP completely misses. The +1.7% margin over SAC-MLP from ablation is small but consistent across all 3 seeds, confirming that the sequence encoder adds real value beyond noise.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822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5720" cy="1737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846320" y="8869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Algorithm Choice: SAC &gt; DDPG &gt; PPO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88720"/>
            <a:ext cx="3977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SAC's entropy regularization prevents premature convergence to sub-optimal fixed irrigation schedules. DDPG converges faster but to lower quality solutions. PPO's on-policy nature makes it extremely sample-inefficient for a 170-day agricultural episode — each episode is expensive and data from past policies is discarded.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45720" cy="1737360"/>
          </a:xfrm>
          <a:prstGeom prst="rect">
            <a:avLst/>
          </a:prstGeom>
          <a:solidFill>
            <a:srgbClr val="006B6B"/>
          </a:solidFill>
          <a:ln w="12700">
            <a:solidFill>
              <a:srgbClr val="006B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11480" y="28072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B6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Surrogate Environment Validity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108960"/>
            <a:ext cx="3977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FAO-56 soil water balance is an established model used in real irrigation management. Our environment faithfully implements it. However, the simplified crop growth model (RUE-based) lacks the genotype-specific calibration of DSSAT. Results should be treated as relative (which policy is better) rather than absolute (exact dollar values).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4709160" y="2743200"/>
            <a:ext cx="45720" cy="17373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846320" y="28072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Water Budget Constraint Effectiveness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108960"/>
            <a:ext cx="3977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budget (250mm) forces genuinely intelligent scheduling — agents must anticipate flowering stages and reserve water. Without constraints, even a simple threshold policy can achieve max yield by over-irrigating. Budget constraints are therefore essential for real-world deployment relevance.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Conclusion &amp; Future Scope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TSA-SAC achieves highest profit ($1,039/ha) and IWUE (6.60 kg/mm) among all evaluated policies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+ temporal attention encoder successfully captures sequential crop-growth dynamics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significantly outperforms PPO (+160%) and DDPG (+22%) for long-horizon agricultural scheduling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Stage-aware multi-objective reward enables smarter water allocation at critical growth stages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Multi-crop transfer learning reduces training time by ~40% on secondary crops (wheat, maize)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Multi-zone shared-reservoir environment demonstrates scalability to real farm layouts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parameters in Bellman equation successfully aligned: S, A, R, P formulation validated empirically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023360" cy="25603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754880" y="8046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143000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754880" y="11430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66360" y="116128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Management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138988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soil nitrogen &amp; fertilizer as state variables and action dimensions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0" y="1709928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754880" y="170992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66360" y="172821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Price Uncertainty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crop prices modeled as part of the RL environment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276856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754880" y="227685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2295144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Scenarios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252374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under CMIP6 projected future weather (2040–2070)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2843784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54880" y="284378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2862072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DSSAT Integration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09067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surrogate with actual DSSAT API for real-world calibration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3410712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754880" y="341071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342900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Deployment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365760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 model on Raspberry Pi / IoT sensor nodes for field use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3977640"/>
            <a:ext cx="32004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754880" y="39776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3995928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Farm Validation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422452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study with actual sensor data from agricultural test plots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84124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Yin, X. et al. (2025). Smart Irrigation Scheduling for Crop Production Using a Crop Model and Improved Deep Reinforcement Learning. MDPI Agriculture, 15(24).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Haarnoja, T., Zhou, A., Abbeel, P., Levine, S. (2018). Soft Actor-Critic: Off-Policy Maximum Entropy Deep Reinforcement Learning with a Stochastic Actor. ICML.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73352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Lillicrap, T.P. et al. (2016). Continuous Control with Deep Reinforcement Learning. ICLR.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12264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760" y="2157984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Schulman, J. et al. (2017). Proximal Policy Optimization Algorithms. arXiv:1707.06347.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2596896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Hochreiter, S., Schmidhuber, J. (1997). Long Short-Term Memory. Neural Computation, 9(8).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990088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65760" y="3035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Bahdanau, D., Cho, K., Bengio, Y. (2015). Neural Machine Translation by Jointly Learning to Align and Translate. ICLR.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29000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65760" y="347472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Allen, R.G. et al. (1998). Crop Evapotranspiration – Guidelines for Computing Crop Water Requirements. FAO Irrigation and Drainage Paper 56.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867912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65760" y="3913632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Hassoun, M.H. (1995). Fundamentals of Artificial Neural Networks. MIT Press.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4306824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65760" y="4352544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Sutton, R.S., Barto, A.G. (2018). Reinforcement Learning: An Introduction (2nd ed.). MIT Press.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745736"/>
            <a:ext cx="8412480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65760" y="4791456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Brockman, G. et al. (2016). OpenAI Gym / Gymnasium. arXiv:1606.01540.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AMRITA SCHOOL OF ARTIFICIAL INTELLIGENCE, BENGALURU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5029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(22AIE412)  |  End-Term Project  |  AY 2025-26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1005840"/>
            <a:ext cx="9144000" cy="502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2743200" y="2697480"/>
            <a:ext cx="3657600" cy="0"/>
          </a:xfrm>
          <a:prstGeom prst="line">
            <a:avLst/>
          </a:prstGeom>
          <a:noFill/>
          <a:ln w="254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5555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Smart Irrigation Scheduling Using TSA-SAC Deep Reinforcement Learning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71600" y="3383280"/>
            <a:ext cx="640080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34564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Group No. 11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37673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Joshika Somisetty (AID23019)    |    Leela Sabareesh (AID23037)    |    Vobilisetti Vyvanth (AID23056)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371600" y="41148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Dr. Amudha J.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0" y="48463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github.com/Joshika-Somisetty/Reinforcement-Learning-project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F5FB66B-4D42-4DEE-9608-BD39BEC029F3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3247</Words>
  <Application>Microsoft Office PowerPoint</Application>
  <PresentationFormat>On-screen Show (16:9)</PresentationFormat>
  <Paragraphs>552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Consolas</vt:lpstr>
      <vt:lpstr>Garamond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Irrigation Scheduling using TSA-SAC Deep Reinforcement Learning</dc:title>
  <dc:subject>PptxGenJS Presentation</dc:subject>
  <dc:creator>PptxGenJS</dc:creator>
  <cp:lastModifiedBy>Joshika Somisetty</cp:lastModifiedBy>
  <cp:revision>6</cp:revision>
  <dcterms:created xsi:type="dcterms:W3CDTF">2026-05-13T17:58:35Z</dcterms:created>
  <dcterms:modified xsi:type="dcterms:W3CDTF">2026-05-14T04:53:53Z</dcterms:modified>
</cp:coreProperties>
</file>